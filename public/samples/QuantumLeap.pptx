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9202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COMPUTING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400300"/>
            <a:ext cx="99971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 Quantum Supremacy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977640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Fault-tolerant topological logical qubits delivering commercial utility for global enterprise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Executive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160D2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Error-Correction Frontier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Overcoming physical decoherence through hardware-efficient surface code lattices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2E10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Topological Surface Codes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4418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8738" y="205740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468873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8738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Cryogenic CMOS Control Chips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7317" y="1737360"/>
            <a:ext cx="3362858" cy="4480560"/>
          </a:xfrm>
          <a:prstGeom prst="roundRect">
            <a:avLst>
              <a:gd name="adj" fmla="val 2719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1637" y="205740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8371637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1637" y="2743200"/>
            <a:ext cx="281421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Syndrome Decoding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160D2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Hardware Benchmark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coherence times and gate fidelity measured in our dilution refrigeration lab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2E10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10,000+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Qubits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12507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2507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Monolithic Silicon Substrate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694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6574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99.98%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76574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Two-Qubit Gate Fidelity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74681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4681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 Exceeds Fault-Tolerant Limit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5868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8748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15 mK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438748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Temperature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36855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090514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6855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Colder Than Deep Space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18041" y="1737360"/>
            <a:ext cx="2442134" cy="4480560"/>
          </a:xfrm>
          <a:prstGeom prst="roundRect">
            <a:avLst>
              <a:gd name="adj" fmla="val 3744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0921" y="2194560"/>
            <a:ext cx="207637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1,000x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200921" y="3383280"/>
            <a:ext cx="20763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Speedup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99028" y="5486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99028" y="5486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Frontier Classical HPC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160D2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 Chemistry &amp; Catalyst Simulation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Unlocking molecular exactness for pharmaceutical drug discovery and carbon sequestration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2E10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Hamiltonian simulation of nitrogenase enzymes for clean fertilizer synthesis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electronic binding affinity computation for novel immuno-oncology targets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Electrolyte interface modeling for next-generation solid-state batteries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5-year wet lab trials with 48-hour quantum computational verification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Initio Accuracy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Molecular Modeling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901952" cy="256032"/>
          </a:xfrm>
          <a:prstGeom prst="roundRect">
            <a:avLst>
              <a:gd name="adj" fmla="val 50000"/>
            </a:avLst>
          </a:prstGeom>
          <a:solidFill>
            <a:srgbClr val="160D2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Hybrid Classical-Quantum Cloud SDK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developer API integrating QPU acceleration with existing Python &amp; PyTorch pipelines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2E10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724738" cy="4480560"/>
          </a:xfrm>
          <a:prstGeom prst="roundRect">
            <a:avLst>
              <a:gd name="adj" fmla="val 2041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76298" y="1737360"/>
            <a:ext cx="4683877" cy="4480560"/>
          </a:xfrm>
          <a:prstGeom prst="roundRect">
            <a:avLst>
              <a:gd name="adj" fmla="val 2041"/>
            </a:avLst>
          </a:prstGeom>
          <a:solidFill>
            <a:srgbClr val="160D2E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517609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OpenQASM 3.0 and Qiskit native compiler with automatic circuit optimization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hardware-noise-adaptive transpilation reducing gate depth by 40%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Sub-millisecond low-latency pipeline between AWS/GCP clusters and Quantum 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Post-quantum cryptographic key exchange securing all algorithmic data in transit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618" y="2468880"/>
            <a:ext cx="41352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1.2 ms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50618" y="3657600"/>
            <a:ext cx="41352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QPU Dispatch Latency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6717" y="4480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717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Cloud Interconnect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160D2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Commercial Scaling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progression from noisy intermediate-scale to fault-tolerant commercial utility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728655" cy="0"/>
          </a:xfrm>
          <a:prstGeom prst="line">
            <a:avLst/>
          </a:prstGeom>
          <a:noFill/>
          <a:ln w="9525">
            <a:solidFill>
              <a:srgbClr val="2E10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72602" y="2834640"/>
            <a:ext cx="8046491" cy="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4002" y="2606040"/>
            <a:ext cx="457200" cy="457200"/>
          </a:xfrm>
          <a:prstGeom prst="ellipse">
            <a:avLst/>
          </a:prstGeom>
          <a:solidFill>
            <a:srgbClr val="160D2E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8202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8202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1,000 Qubit Chip Fabricated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8202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Single-qubit coherence &gt; 250 µs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166" y="2606040"/>
            <a:ext cx="457200" cy="457200"/>
          </a:xfrm>
          <a:prstGeom prst="ellipse">
            <a:avLst/>
          </a:prstGeom>
          <a:solidFill>
            <a:srgbClr val="160D2E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366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366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Fault-Tolerant Logical Qubit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366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demonstrated error suppression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8330" y="2606040"/>
            <a:ext cx="457200" cy="457200"/>
          </a:xfrm>
          <a:prstGeom prst="ellipse">
            <a:avLst/>
          </a:prstGeom>
          <a:solidFill>
            <a:srgbClr val="160D2E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253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2253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Multi-Chip Quantum Interconnects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2530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Optical quantum links between dilution fridges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90493" y="2606040"/>
            <a:ext cx="457200" cy="457200"/>
          </a:xfrm>
          <a:prstGeom prst="ellipse">
            <a:avLst/>
          </a:prstGeom>
          <a:solidFill>
            <a:srgbClr val="160D2E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4693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04693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10,000 Logical Qubits Cloud Tier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04693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enterprise commercial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645920" y="2194560"/>
            <a:ext cx="88998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Fault-tolerant quantum computing is not merely an incremental speedup; it is a fundamental shift in humanity's ability to compute the laws of nature.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425196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Re-imagining what is computationally tractable for human civilization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0876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99971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5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 Co-Innovation Partnership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QuantumLeap early access ecosystem across aerospace, pharma, and finance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SlideCraft AI Studio  •  Thank you for your 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SlideCraft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QuantumLeap: Commercial Fault-Tolerant Quantum Systems</dc:title>
  <dc:subject>Architectural blueprint for topological logical qubits, cryogenic control systems, and enterprise quantum utility</dc:subject>
  <dc:creator>SlideCraft Deep Tech Studio</dc:creator>
  <cp:lastModifiedBy>SlideCraft Deep Tech Studio</cp:lastModifiedBy>
  <cp:revision>1</cp:revision>
  <dcterms:created xsi:type="dcterms:W3CDTF">2026-09-16T12:39:00Z</dcterms:created>
  <dcterms:modified xsi:type="dcterms:W3CDTF">2026-09-16T12:39:00Z</dcterms:modified>
</cp:coreProperties>
</file>